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0" y="0"/>
            <a:ext cx="73152" cy="685800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4655"/>
                </a:solidFill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VALORANT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Champions Tour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COMPETITIVE GAMING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&amp; ESPORTS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94560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4655"/>
                </a:solidFill>
              </a:rPr>
              <a:t>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977639"/>
            <a:ext cx="6858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1605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Tugas Besar Fundamen Sains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Prediksi Kemenangan &amp; Segmentasi Gaya Bermain Pemain VCT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TIM PENELITI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Anggota Kelompok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745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66160" cy="41148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2011680"/>
            <a:ext cx="1188720" cy="118872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01168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Muhammad Zayyan Achnaf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655"/>
                </a:solidFill>
              </a:rPr>
              <a:t>NIM: 24523147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Project Lead &amp; ML Engineer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828800"/>
            <a:ext cx="3566160" cy="41148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828800"/>
            <a:ext cx="356616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04688" y="2011680"/>
            <a:ext cx="118872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01168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383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Maulana Shiddiq Afdhaluddin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NIM: 24523022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434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Data Analyst &amp; 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828800"/>
            <a:ext cx="3566160" cy="41148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828800"/>
            <a:ext cx="3566160" cy="1097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63456" y="2011680"/>
            <a:ext cx="1188720" cy="1188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201168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383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Raihan Farabi Muzakki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FFF"/>
                </a:solidFill>
              </a:rPr>
              <a:t>NIM: 24523246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4434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Visualization &amp; Gradio Dev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</a:rPr>
              <a:t>Fundamen Sains Data  |  Universitas Islam Indonesia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STUDI KASUS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&amp; Latar Belakang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303520" cy="9144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4655"/>
                </a:solidFill>
              </a:rPr>
              <a:t>STUDI KASUS YANG DIPILIH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B4D8"/>
                </a:solidFill>
              </a:rPr>
              <a:t>Studi Kasus 1 — Supervised Learning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CCCC"/>
                </a:solidFill>
              </a:rPr>
              <a:t>Memprediksi kemenangan (Win/Loss) tim VCT 2025 berdasarkan statistik rata-rata performa seluruh pemain dalam tim.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B4D8"/>
                </a:solidFill>
              </a:rPr>
              <a:t>Studi Kasus 2 — Unsupervised Learning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CCCC"/>
                </a:solidFill>
              </a:rPr>
              <a:t>Mengelompokkan pemain profesional ke dalam cluster peran bermain berdasarkan profil statistik mereka.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FF4655"/>
                </a:solidFill>
              </a:rPr>
              <a:t>SUMBER DATASET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CCCC"/>
                </a:solidFill>
              </a:rPr>
              <a:t>VLR.gg via Kaggle — Valorant VCT Champions 2025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CCCC"/>
                </a:solidFill>
              </a:rPr>
              <a:t>valorant_weapons.csv — Statistik Senjata Valorant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66928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56692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2560320" cy="19202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256032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1488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4655"/>
                </a:solidFill>
              </a:rPr>
              <a:t>10 file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Data Mentah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874519"/>
            <a:ext cx="2560320" cy="19202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874519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1488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8 Fitur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Variabel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069079"/>
            <a:ext cx="2560320" cy="19202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069079"/>
            <a:ext cx="2560320" cy="7315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34339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700"/>
                </a:solidFill>
              </a:rPr>
              <a:t>2 Studi Kasus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166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Pendekatan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4069079"/>
            <a:ext cx="2560320" cy="19202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4069079"/>
            <a:ext cx="2560320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434339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B2FFF"/>
                </a:solidFill>
              </a:rPr>
              <a:t>1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166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Gradio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Tahapan Preprocessing &amp; Insight Visualisasi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94360" cy="91440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94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691640"/>
            <a:ext cx="5212080" cy="9144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655"/>
                </a:solidFill>
              </a:rPr>
              <a:t>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Penanganan missing values dan duplikasi pada data mentah statistik VCT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59436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594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834640"/>
            <a:ext cx="5212080" cy="9144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Agregasi data per-pemain menjadi rata-rata metrik tingkat tim (avg_acs, avg_kda, dll).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94360" cy="9144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594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977639"/>
            <a:ext cx="5212080" cy="9144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700"/>
                </a:solidFill>
              </a:rPr>
              <a:t>Feature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Standarisasi fitur menggunakan StandardScaler untuk algoritma SVM &amp; K-Means.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594360" cy="9144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594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5120640"/>
            <a:ext cx="5212080" cy="91440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166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Label Encoding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Konversi target Win/Loss menjadi biner (1/0) untuk klasifikasi.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691640"/>
            <a:ext cx="521208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1691640"/>
            <a:ext cx="5212080" cy="914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8745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8700"/>
                </a:solidFill>
              </a:rPr>
              <a:t>KEY INSIGHTS DARI EDA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00B4D8"/>
                </a:solidFill>
              </a:rPr>
              <a:t>&gt;&gt; ACS &amp; KDA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CCCCCC"/>
                </a:solidFill>
              </a:rPr>
              <a:t>Berkorelasi paling kuat dengan kemenangan pertandingan berdasarkan heatmap korelasi.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00B4D8"/>
                </a:solidFill>
              </a:rPr>
              <a:t>&gt;&gt; First Kill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CCCCCC"/>
                </a:solidFill>
              </a:rPr>
              <a:t>Tim yang dominan dalam First Blood memiliki win-rate ronde yang jauh lebih tinggi.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00B4D8"/>
                </a:solidFill>
              </a:rPr>
              <a:t>&gt;&gt; Rating Dist.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CCCCCC"/>
                </a:solidFill>
              </a:rPr>
              <a:t>Mayoritas pemain memiliki rating VLR.gg di kisaran 1.0-1.15, dengan outlier bintang di atas 1.30.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00B4D8"/>
                </a:solidFill>
              </a:rPr>
              <a:t>&gt;&gt; Economy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CCCCCC"/>
                </a:solidFill>
              </a:rPr>
              <a:t>Pembelian senjata mahal berkorelasi dengan kemenangan ronde pada babak kedua.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ALGORITMA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Machine Learning yang Digunakan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9496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394960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655"/>
                </a:solidFill>
              </a:rPr>
              <a:t>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99"/>
                </a:solidFill>
              </a:rPr>
              <a:t>Klasifikasi Win/Loss Pertandingan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06040"/>
            <a:ext cx="457200" cy="6400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243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26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Baseline linear classifier, cepat &amp; interpretatif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520440"/>
            <a:ext cx="457200" cy="6400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38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SVM (RBF Kernel)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Hyperplane non-linear untuk boundary kompleks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434840"/>
            <a:ext cx="457200" cy="6400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5312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548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Ensemble pohon keputusan, robust &amp; akurat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349240"/>
            <a:ext cx="457200" cy="6400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6752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Gradient Boosting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6692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Boosting sekuensial, performa sangat tinggi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557784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691640"/>
            <a:ext cx="55778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UNSUPERVISED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99"/>
                </a:solidFill>
              </a:rPr>
              <a:t>Segmentasi &amp; Clustering Senjata Valorant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06040"/>
            <a:ext cx="45720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60604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K-Means 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Mengelompokkan 20 senjata Valorant berdasarkan profil statistik damage, harga, fire rate, &amp; ammo.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45720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PCA 2D Projection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Reduksi dimensi dari fitur damage multi-jarak menjadi 2 komponen utama untuk visualisasi grafik 2D.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120640"/>
            <a:ext cx="5212080" cy="11887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120640"/>
            <a:ext cx="5212080" cy="54864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1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700"/>
                </a:solidFill>
              </a:rPr>
              <a:t>Hasil: 3 Cluster Archetype Senjata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77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Precision/High-Damage | Rapid Fire/Aggressive | Balanced/All-Round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943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(Ditentukan oleh Elbow Method &amp; Silhouette Score)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BB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EVALUASI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Hasil Evaluasi &amp; Performa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9496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394960" cy="9144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655"/>
                </a:solidFill>
              </a:rPr>
              <a:t>SUPERVISED — Klasifikasi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0B4D8"/>
                </a:solidFill>
              </a:rPr>
              <a:t>Metode Evaluasi: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+ 5-Fold Stratified Cross Validation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Confusion Matrix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Classification Report (Precision, Recall, F1)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ROC-AUC Curve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Feature Importance Analysis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D700"/>
                </a:solidFill>
              </a:rPr>
              <a:t>Model Terbaik:</a:t>
            </a:r>
          </a:p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</a:rPr>
              <a:t>Random Forest / Gradient Boosting</a:t>
            </a:r>
          </a:p>
          <a:p>
            <a:pPr algn="l">
              <a:spcBef>
                <a:spcPts val="0"/>
              </a:spcBef>
            </a:pPr>
            <a:r>
              <a:rPr sz="900" b="0" i="1">
                <a:solidFill>
                  <a:srgbClr val="888899"/>
                </a:solidFill>
              </a:rPr>
              <a:t>(Tertinggi di semua metrik evaluasi)</a:t>
            </a:r>
          </a:p>
          <a:p>
            <a:pPr algn="l">
              <a:spcBef>
                <a:spcPts val="0"/>
              </a:spcBef>
            </a:pPr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D700"/>
                </a:solidFill>
              </a:rPr>
              <a:t>Fitur Paling Berpengaruh: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00B4D8"/>
                </a:solidFill>
              </a:rPr>
              <a:t>avg_acs  &gt;  avg_kda  &gt;  avg_rating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557784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55778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UNSUPERVISED —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0B4D8"/>
                </a:solidFill>
              </a:rPr>
              <a:t>Metode Evaluasi: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Elbow Method (Inertia) -&gt; K=3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Silhouette Score (semakin tinggi = lebih baik)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Davies-Bouldin Index (semakin rendah = lebih baik)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PCA 2D Scatter Plot Visualization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CCCCCC"/>
                </a:solidFill>
              </a:rPr>
              <a:t>  + Radar Chart per Cluster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D700"/>
                </a:solidFill>
              </a:rPr>
              <a:t>3 Cluster Senjata Teridentifikasi: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FFD700"/>
                </a:solidFill>
              </a:rPr>
              <a:t>&gt;&gt; Precision / High-Damage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88899"/>
                </a:solidFill>
              </a:rPr>
              <a:t>    Head damage tinggi, mahal (Operator, Vandal, Guardian)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FF4655"/>
                </a:solidFill>
              </a:rPr>
              <a:t>&gt;&gt; Rapid Fire / Aggressive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88899"/>
                </a:solidFill>
              </a:rPr>
              <a:t>    Fire rate tinggi, ammo besar (Spectre, Stinger, Frenzy)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00E576"/>
                </a:solidFill>
              </a:rPr>
              <a:t>&gt;&gt; Balanced / All-Round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88899"/>
                </a:solidFill>
              </a:rPr>
              <a:t>    Seimbang damage &amp; harga (Ghost, Sheriff, Phantom)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DEMO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Antarmuka Aplikasi Gradio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00" cy="4846320"/>
          </a:xfrm>
          <a:prstGeom prst="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VCT Champions 2025 — Match Outcome Predictor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0487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04872"/>
            <a:ext cx="164592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Avg Combat Score (ACS)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31343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313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0779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907792"/>
            <a:ext cx="201168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432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Avg Damage/Round (ADR)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81635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81635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135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41071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410712"/>
            <a:ext cx="237744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KDA Ratio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31927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33192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1.30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91363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913632"/>
            <a:ext cx="164592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490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Headshot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382219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38221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27.5%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41655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416552"/>
            <a:ext cx="201168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251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KAST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432511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43251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72.0%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91947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919472"/>
            <a:ext cx="237744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7548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Total First Kills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482803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48280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42239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5422392"/>
            <a:ext cx="164592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2578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Total First Deaths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533095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533095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925312"/>
            <a:ext cx="3291840" cy="7315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5925312"/>
            <a:ext cx="2011680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76072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Rating Rata-rata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5833872"/>
            <a:ext cx="1691640" cy="32004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0" y="58338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1.12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5715000"/>
            <a:ext cx="2743200" cy="41148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715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Prediksi Hasil Pertandingan!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1691640"/>
            <a:ext cx="5486400" cy="484632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1691640"/>
            <a:ext cx="5486400" cy="9144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19202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0E576"/>
                </a:solidFill>
              </a:rPr>
              <a:t>FITUR APLIKASI</a:t>
            </a:r>
          </a:p>
          <a:p>
            <a:pPr algn="l">
              <a:spcBef>
                <a:spcPts val="0"/>
              </a:spcBef>
            </a:pPr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FFFFFF"/>
                </a:solidFill>
              </a:rPr>
              <a:t>&gt;&gt; 8 Input Slider Interaktif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888899"/>
                </a:solidFill>
              </a:rPr>
              <a:t>Mengatur metrik ACS, KDA, ADR, HS%, KAST, First Kills, First Deaths &amp; Rating secara real-time.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FFFFFF"/>
                </a:solidFill>
              </a:rPr>
              <a:t>&gt;&gt; Prediksi Instan (Real-time)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888899"/>
                </a:solidFill>
              </a:rPr>
              <a:t>Model best_classifier.pkl langsung menghasilkan keputusan Win/Loss saat tombol ditekan.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FFFFFF"/>
                </a:solidFill>
              </a:rPr>
              <a:t>&gt;&gt; Output Probabilitas Lengkap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888899"/>
                </a:solidFill>
              </a:rPr>
              <a:t>Menampilkan persentase peluang Menang (Win %) dan Kalah (Loss %) dengan tingkat kepercayaan.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FFFFFF"/>
                </a:solidFill>
              </a:rPr>
              <a:t>&gt;&gt; Desain Tematik Valorant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888899"/>
                </a:solidFill>
              </a:rPr>
              <a:t>UI modern dengan warna merah-biru-cyan khas Valorant, menggunakan Gradio Blocks.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FFFFFF"/>
                </a:solidFill>
              </a:rPr>
              <a:t>&gt;&gt; Panduan Interaktif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888899"/>
                </a:solidFill>
              </a:rPr>
              <a:t>Accordion panel berisi penjelasan fitur, deskripsi metrik, dan sumber dataset.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Akses: http://127.0.0.1:7860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365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Hasil &amp; Kesimpulan Analisis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4572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77840" cy="214884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577840" cy="9144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20"/>
            <a:ext cx="502920" cy="68580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655"/>
                </a:solidFill>
              </a:rPr>
              <a:t>Prediktabilitas Esports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Statistik metrik dalam pertandingan FPS seperti Valorant terbukti berkorelasi signifikan dengan hasil akhir. Model ML mampu memprediksi kemenangan dengan akurasi tinggi.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577840" cy="214884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55778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50292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Faktor Kunci Kemenangan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ACS (Average Combat Score) dan KDA Ratio adalah prediktor paling dominan. Tim yang menguasai First Blood memiliki peluang menang yang jauh lebih besar.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577840" cy="214884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5577840" cy="914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502920" cy="6858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51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700"/>
                </a:solidFill>
              </a:rPr>
              <a:t>Archetype Senjata Valorant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K-Means Clustering berhasil mengelompokkan 20 senjata Valorant ke dalam 3 archetype (Precision, Rapid Fire, Balanced) berdasarkan spesifikasi teknis &amp; damage tanpa label manual.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577840" cy="2148840"/>
          </a:xfrm>
          <a:prstGeom prst="rect">
            <a:avLst/>
          </a:prstGeom>
          <a:solidFill>
            <a:srgbClr val="16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023360"/>
            <a:ext cx="557784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502920" cy="685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251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Implementasi Praktis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Kombinasi Model ML dan antarmuka Gradio menghasilkan alat prediksi yang siap digunakan secara praktis oleh analis esports di lingkungan nyata.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4552" cy="5486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99"/>
                </a:solidFill>
              </a:rPr>
              <a:t>Tugas Besar Fundamen Sains Data  |  Competitive Gaming &amp; Esports ML  |  VCT Champions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